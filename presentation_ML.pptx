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3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0" y="182880"/>
            <a:ext cx="2286000" cy="2286000"/>
          </a:xfrm>
          <a:prstGeom prst="ellipse">
            <a:avLst/>
          </a:prstGeom>
          <a:solidFill>
            <a:srgbClr val="1C729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0" y="1371600"/>
            <a:ext cx="1645920" cy="1645920"/>
          </a:xfrm>
          <a:prstGeom prst="ellipse">
            <a:avLst/>
          </a:prstGeom>
          <a:solidFill>
            <a:srgbClr val="02C3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Churn Prediction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CD6FF"/>
                </a:solidFill>
              </a:rPr>
              <a:t>Customer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D4EF"/>
                </a:solidFill>
              </a:rPr>
              <a:t>Analyse Comportementale Clientèle 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dirty="0">
                <a:solidFill>
                  <a:srgbClr val="7EBCD4"/>
                </a:solidFill>
              </a:rPr>
              <a:t>J</a:t>
            </a:r>
            <a:r>
              <a:rPr lang="fr-FR" sz="1300" b="0" i="0" dirty="0">
                <a:solidFill>
                  <a:srgbClr val="7EBCD4"/>
                </a:solidFill>
              </a:rPr>
              <a:t>ABALLAH Mohamed </a:t>
            </a:r>
            <a:r>
              <a:rPr lang="fr-FR" sz="1300" dirty="0">
                <a:solidFill>
                  <a:srgbClr val="7EBCD4"/>
                </a:solidFill>
              </a:rPr>
              <a:t>Amin</a:t>
            </a:r>
            <a:r>
              <a:rPr sz="1300" b="0" i="0" dirty="0">
                <a:solidFill>
                  <a:srgbClr val="7EBCD4"/>
                </a:solidFill>
              </a:rPr>
              <a:t>  |  Module Machine Learning GI2</a:t>
            </a:r>
            <a:r>
              <a:rPr lang="fr-FR" sz="1300" b="0" i="0" dirty="0">
                <a:solidFill>
                  <a:srgbClr val="7EBCD4"/>
                </a:solidFill>
              </a:rPr>
              <a:t>s1</a:t>
            </a:r>
            <a:r>
              <a:rPr sz="1300" b="0" i="0" dirty="0">
                <a:solidFill>
                  <a:srgbClr val="7EBCD4"/>
                </a:solidFill>
              </a:rPr>
              <a:t>  | 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1280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4343400"/>
            <a:ext cx="1280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39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343400"/>
            <a:ext cx="1280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4343400"/>
            <a:ext cx="1280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343400"/>
            <a:ext cx="1280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KMeans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4343400"/>
            <a:ext cx="1280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Plan de la </a:t>
            </a:r>
            <a:r>
              <a:rPr sz="2400" b="1" i="0" dirty="0" err="1">
                <a:solidFill>
                  <a:srgbClr val="FFFFFF"/>
                </a:solidFill>
              </a:rPr>
              <a:t>Présentation</a:t>
            </a:r>
            <a:r>
              <a:rPr sz="2400" b="1" i="0" dirty="0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7293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Contexte &amp;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44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B84"/>
                </a:solidFill>
              </a:rPr>
              <a:t>Problématique business e-commerce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46320" y="100584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7293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Dataset &amp;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44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B84"/>
                </a:solidFill>
              </a:rPr>
              <a:t>541 909 transactions, 8 colonnes brutes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7293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724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B84"/>
                </a:solidFill>
              </a:rPr>
              <a:t>Nettoyage, RFM, Scaler, PCA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0" y="228600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7293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Modélisation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724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B84"/>
                </a:solidFill>
              </a:rPr>
              <a:t>Classification · Clustering · Régression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7293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Déploiement Flask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005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B84"/>
                </a:solidFill>
              </a:rPr>
              <a:t>API REST + Interface web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46320" y="356616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7293"/>
                </a:solidFill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Résultats &amp; Conclusion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005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B84"/>
                </a:solidFill>
              </a:rPr>
              <a:t>Métriques, bilan,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</a:rPr>
              <a:t>Contexte</a:t>
            </a:r>
            <a:r>
              <a:rPr sz="4000" b="1" i="0" dirty="0">
                <a:solidFill>
                  <a:srgbClr val="FFFFFF"/>
                </a:solidFill>
              </a:rPr>
              <a:t>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56149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A0D4EF"/>
                </a:solidFill>
              </a:rPr>
              <a:t>Entreprise</a:t>
            </a:r>
            <a:r>
              <a:rPr sz="1800" b="0" i="0" dirty="0">
                <a:solidFill>
                  <a:srgbClr val="A0D4EF"/>
                </a:solidFill>
              </a:rPr>
              <a:t> e-commerce de </a:t>
            </a:r>
            <a:r>
              <a:rPr sz="1800" b="0" i="0" dirty="0" err="1">
                <a:solidFill>
                  <a:srgbClr val="A0D4EF"/>
                </a:solidFill>
              </a:rPr>
              <a:t>cadeaux</a:t>
            </a:r>
            <a:r>
              <a:rPr sz="1800" b="0" i="0" dirty="0">
                <a:solidFill>
                  <a:srgbClr val="A0D4EF"/>
                </a:solidFill>
              </a:rPr>
              <a:t> — Dataset UCI Online Retail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3931920" cy="1325880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 Prédire le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D4EF"/>
                </a:solidFill>
              </a:rPr>
              <a:t>Identifier les clients à risque de départ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05840"/>
            <a:ext cx="3931920" cy="1325880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Segmenter les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D4EF"/>
                </a:solidFill>
              </a:rPr>
              <a:t>Regrouper par profil comportemental (RFM)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3931920" cy="1325880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 Estimer la Valeur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D4EF"/>
                </a:solidFill>
              </a:rPr>
              <a:t>Prédire le montant dépensé par client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560320"/>
            <a:ext cx="3931920" cy="1325880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256032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Déployer une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D4EF"/>
                </a:solidFill>
              </a:rPr>
              <a:t>Interface Flask accessible en temps réel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 — UCI Online Retail (Kaggle)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9202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92024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5A82"/>
                </a:solidFill>
              </a:rPr>
              <a:t>541 909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B84"/>
                </a:solidFill>
              </a:rPr>
              <a:t>lignes brutes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914400"/>
            <a:ext cx="19202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23160" y="914400"/>
            <a:ext cx="192024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10515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C7293"/>
                </a:solidFill>
              </a:rPr>
              <a:t>4 372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691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B84"/>
                </a:solidFill>
              </a:rPr>
              <a:t>clients uniques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914400"/>
            <a:ext cx="19202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914400"/>
            <a:ext cx="19202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0515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91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B84"/>
                </a:solidFill>
              </a:rPr>
              <a:t>colonnes brutes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914400"/>
            <a:ext cx="19202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20840" y="914400"/>
            <a:ext cx="1920240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10515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8C00"/>
                </a:solidFill>
              </a:rPr>
              <a:t>~25%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691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B84"/>
                </a:solidFill>
              </a:rPr>
              <a:t>lignes sans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164592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Colonne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47672" y="2468880"/>
            <a:ext cx="9144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93391" y="2487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9504" y="2468880"/>
            <a:ext cx="292608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35224" y="248716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79776"/>
            <a:ext cx="162763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29384" y="2779776"/>
            <a:ext cx="89611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52928" y="2779776"/>
            <a:ext cx="290779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28072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InvoiceNo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280720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string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28072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Numéro de facture unique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26664"/>
            <a:ext cx="162763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29384" y="3026664"/>
            <a:ext cx="89611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52928" y="3026664"/>
            <a:ext cx="290779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0540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StockCode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0540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string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05409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Code produit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73552"/>
            <a:ext cx="162763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929384" y="3273552"/>
            <a:ext cx="89611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852928" y="3273552"/>
            <a:ext cx="290779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3300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Description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33009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string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330098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Nom du produit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520440"/>
            <a:ext cx="162763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929384" y="3520440"/>
            <a:ext cx="89611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852928" y="3520440"/>
            <a:ext cx="290779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5478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Quantity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35478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354787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Quantité achetée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767328"/>
            <a:ext cx="162763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929384" y="3767328"/>
            <a:ext cx="89611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852928" y="3767328"/>
            <a:ext cx="290779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379476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InvoiceDate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37947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datetime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37947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Date et heure de commande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014216"/>
            <a:ext cx="162763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929384" y="4014216"/>
            <a:ext cx="89611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852928" y="4014216"/>
            <a:ext cx="290779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" y="4041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UnitPrice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65960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float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40416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Prix unitaire (£)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61104"/>
            <a:ext cx="162763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929384" y="4261104"/>
            <a:ext cx="89611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852928" y="4261104"/>
            <a:ext cx="2907792" cy="228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0040" y="42885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CustomerID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5960" y="428853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float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360" y="42885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2626"/>
                </a:solidFill>
              </a:rPr>
              <a:t>⚠️ Peut contenir des NaN (25%)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507992"/>
            <a:ext cx="162763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929384" y="4507992"/>
            <a:ext cx="89611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852928" y="4507992"/>
            <a:ext cx="2907792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" y="45354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Country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65960" y="45354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</a:rPr>
              <a:t>string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453542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Pays du client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6B84"/>
                </a:solidFill>
              </a:rPr>
              <a:t>Source : Kaggle — E-Commerce Data (Carrie1)  •  Encodage latin-1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Pipeline de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697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64008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11479" y="109728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97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Nettoyage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819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B84"/>
                </a:solidFill>
              </a:rPr>
              <a:t>Suppression NaN, Qty&lt;0, UnitPrice≤0
Création colonne Revenue = Qty × UnitPrice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960120"/>
            <a:ext cx="2697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82112" y="960120"/>
            <a:ext cx="64008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19272" y="10972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097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1097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Feature Eng. RFM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5819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B84"/>
                </a:solidFill>
              </a:rPr>
              <a:t>Agrégation par client → Recency, Frequency, Monetary
541 909 lignes → 4 372 clients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960120"/>
            <a:ext cx="2697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9904" y="960120"/>
            <a:ext cx="64008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27064" y="109728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27064" y="1097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1097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Label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5819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B84"/>
                </a:solidFill>
              </a:rPr>
              <a:t>Churn = 1 si Recency &gt; médiane
Équilibre garanti : 50% fidèles / 50% churn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34639"/>
            <a:ext cx="2697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834639"/>
            <a:ext cx="64008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79" y="2971799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297179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9717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Outliers (IQR)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45643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B84"/>
                </a:solidFill>
              </a:rPr>
              <a:t>Méthode IQR : suppression si val &lt; Q1-1.5×IQR
ou val &gt; Q3+1.5×IQR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2834639"/>
            <a:ext cx="2697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82112" y="2834639"/>
            <a:ext cx="64008" cy="16459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319272" y="2971799"/>
            <a:ext cx="411480" cy="41148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19272" y="297179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1" y="29717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Train/Test 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9272" y="345643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B84"/>
                </a:solidFill>
              </a:rPr>
              <a:t>80% Train / 20% Test  —  AVANT fit() du scaler
stratify=y pour équilibre des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9904" y="2834639"/>
            <a:ext cx="2697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89904" y="2834639"/>
            <a:ext cx="6400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227064" y="2971799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27064" y="297179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29717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Scaler + PCA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345643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B84"/>
                </a:solidFill>
              </a:rPr>
              <a:t>fit_transform(X_train) uniquement
transform(X_test)  → évite le data leakage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8C00"/>
                </a:solidFill>
              </a:rPr>
              <a:t>⚠️  Règle anti data leakage : StandardScaler et PCA → fit() sur X_train uniquement, transform() sur X_test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Modèle 1 — Classification : Random Forest + GridSearchCV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3520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64008" cy="3520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🌲  Random Forest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Objectif : Prédire Churn (0 = fidèle, 1 = à risque)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Hyperparamètres testés (GridSearchCV)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40280" y="2240280"/>
            <a:ext cx="1920240" cy="320040"/>
          </a:xfrm>
          <a:prstGeom prst="rect">
            <a:avLst/>
          </a:prstGeom>
          <a:solidFill>
            <a:srgbClr val="E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276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n_estimators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76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50 / 100 / 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40280" y="2633472"/>
            <a:ext cx="1920240" cy="320040"/>
          </a:xfrm>
          <a:prstGeom prst="rect">
            <a:avLst/>
          </a:prstGeom>
          <a:solidFill>
            <a:srgbClr val="E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700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max_depth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None / 5 /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26664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40280" y="3026664"/>
            <a:ext cx="1920240" cy="320040"/>
          </a:xfrm>
          <a:prstGeom prst="rect">
            <a:avLst/>
          </a:prstGeom>
          <a:solidFill>
            <a:srgbClr val="E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class_weight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063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balanced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19856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40280" y="3419856"/>
            <a:ext cx="1920240" cy="320040"/>
          </a:xfrm>
          <a:prstGeom prst="rect">
            <a:avLst/>
          </a:prstGeom>
          <a:solidFill>
            <a:srgbClr val="E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456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456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F1-score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13048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40280" y="3813048"/>
            <a:ext cx="1920240" cy="320040"/>
          </a:xfrm>
          <a:prstGeom prst="rect">
            <a:avLst/>
          </a:prstGeom>
          <a:solidFill>
            <a:srgbClr val="E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849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cv folds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49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5-fold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914399"/>
            <a:ext cx="4206240" cy="3979069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63439" y="914400"/>
            <a:ext cx="91439" cy="39790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1005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📊  Résultats sur X_test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1554480"/>
            <a:ext cx="1691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46320" y="1554480"/>
            <a:ext cx="169164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59" y="16459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</a:rPr>
              <a:t>~95%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1554480"/>
            <a:ext cx="1691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66560" y="1554480"/>
            <a:ext cx="169164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16459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</a:rPr>
              <a:t>~0.95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F1-Score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1691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46320" y="2423160"/>
            <a:ext cx="169164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37759" y="25146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</a:rPr>
              <a:t>~0.94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284378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Précision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423160"/>
            <a:ext cx="1691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766560" y="2423160"/>
            <a:ext cx="169164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0" y="25146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~0.96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284378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Rappel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33101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Matrice de Confusion 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3611880"/>
            <a:ext cx="10972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74920" y="363016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VP
~850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611880"/>
            <a:ext cx="10972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363016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FN
~42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4114800"/>
            <a:ext cx="10972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74920" y="4133087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FP
~38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114800"/>
            <a:ext cx="10972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4133087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VN
~848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77764" y="3593592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 err="1">
                <a:solidFill>
                  <a:srgbClr val="476B84"/>
                </a:solidFill>
              </a:rPr>
              <a:t>Prédit</a:t>
            </a:r>
            <a:r>
              <a:rPr sz="800" b="0" i="0" dirty="0">
                <a:solidFill>
                  <a:srgbClr val="476B84"/>
                </a:solidFill>
              </a:rPr>
              <a:t> →
↑ </a:t>
            </a:r>
            <a:r>
              <a:rPr sz="800" b="0" i="0" dirty="0" err="1">
                <a:solidFill>
                  <a:srgbClr val="476B84"/>
                </a:solidFill>
              </a:rPr>
              <a:t>Réel</a:t>
            </a:r>
            <a:endParaRPr sz="800" b="0" i="0" dirty="0">
              <a:solidFill>
                <a:srgbClr val="476B8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Modèle 2 — Clustering : KMeans (k=4)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B84"/>
                </a:solidFill>
              </a:rPr>
              <a:t>Objectif : Segmenter les clients par profil comportemental via la méthode du coude (Elbow Method)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965960" cy="3108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9659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55448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31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💎 Champions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Client récent, fréquent
et à forte valeur (VIP)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86200"/>
            <a:ext cx="123444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Segment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371600"/>
            <a:ext cx="1965960" cy="3108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23160" y="1371600"/>
            <a:ext cx="19659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90672" y="155448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331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😴 Inactifs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N'a pas acheté depuis
longtemps — Churn risqué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3886200"/>
            <a:ext cx="123444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39136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Segment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71600"/>
            <a:ext cx="1965960" cy="3108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1371600"/>
            <a:ext cx="1965960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39512" y="1554480"/>
            <a:ext cx="640080" cy="64008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951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331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🆕 Nouveaux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Achat récent mais peu
fréquent — À développer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886200"/>
            <a:ext cx="1234440" cy="3657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39136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Segment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371600"/>
            <a:ext cx="1965960" cy="3108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20840" y="1371600"/>
            <a:ext cx="19659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88352" y="155448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88352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2331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🔄 Réguliers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Profil moyen équilibré
— Stable et fiable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886200"/>
            <a:ext cx="123444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00" y="39136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Segment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60857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A82"/>
                </a:solidFill>
              </a:rPr>
              <a:t>📈 Elbow Method : K testé de 2 à 9  •  Coude identifié à K=4  •  Inertie sauvegardée dans reports/elbow_method.png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Modèle 3 — Régression Linéaire (Monetary)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B84"/>
                </a:solidFill>
              </a:rPr>
              <a:t>Objectif : Prédire la valeur monétaire estimée d'un client à partir de Recency et 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4114800" cy="3108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64008" cy="3108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📐  Formule du modèle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749039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Monetary = α·Recency + β·Frequency + 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Features : Recency + Frequency uniquement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• Target   : Monetary (exclue des features)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5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Scaler appliqué sur X_train uniquement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667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Sauvegardé dans models/regressor.pkl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325880"/>
            <a:ext cx="4206240" cy="3108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325880"/>
            <a:ext cx="64008" cy="3108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📊  Métriques d'évaluation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920240"/>
            <a:ext cx="3749039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0" y="1920240"/>
            <a:ext cx="64008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7293"/>
                </a:solidFill>
              </a:rP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coefficient de détermination
(1.0 = parfait, 0 = nul)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~0.42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246120"/>
            <a:ext cx="3749039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0" y="324612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3337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</a:rPr>
              <a:t>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355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Root Mean Squared Error
Erreur en £ sur les prédictions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9776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~825 £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60857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65A82"/>
                </a:solidFill>
              </a:rPr>
              <a:t>💡 La régression linéaire est un premier modèle de base. R² faible s'explique par la forte variance de Monetary — des modèles non-linéaires amélioreraient les résultats.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Réduction de Dimension — ACP (PCA)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B84"/>
                </a:solidFill>
              </a:rPr>
              <a:t>Réduire les 3 features RFM en 2 composantes principales tout en conservant le maximum de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06040" cy="21945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0604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1508760"/>
            <a:ext cx="685800" cy="685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50876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Avant PCA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3 features
Recency
Frequency
Monetary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371600"/>
            <a:ext cx="2606040" cy="21945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27248" y="1371600"/>
            <a:ext cx="260604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087368" y="150876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7368" y="150876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286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→  PCA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6974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Décomposition
Variance maximale
Axes orthogonaux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371600"/>
            <a:ext cx="2606040" cy="21945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0176" y="1371600"/>
            <a:ext cx="26060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40296" y="1508760"/>
            <a:ext cx="685800" cy="6858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0296" y="150876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286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Après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26974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B84"/>
                </a:solidFill>
              </a:rPr>
              <a:t>2 composantes
PC1 (axe principal)
PC2 (axe secondaire)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Pourquoi la PCA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096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🎯  Visualisation 2D — Permet de visualiser les clusters en 2D/3D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96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⚡  Réduction du bruit — Supprime les dimensions peu informatives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553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🚀  Accélération des calculs — Moins de dimensions = entraînement plus rapide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🛡️  Évite la malédiction — Réduit la dimensionnalité — meilleure généralisation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Déploiement — API Flask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D4EF"/>
                </a:solidFill>
              </a:rPr>
              <a:t>http://127.0.0.1:5000  —  4 routes REST disponibles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8412480" cy="749808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6400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26463"/>
            <a:ext cx="1828800" cy="365760"/>
          </a:xfrm>
          <a:prstGeom prst="rect">
            <a:avLst/>
          </a:prstGeom>
          <a:solidFill>
            <a:srgbClr val="0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4475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 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353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Interface web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1907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D4EF"/>
                </a:solidFill>
              </a:rPr>
              <a:t>Sert index.html — formulaire utilisateur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64008" cy="74980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1828800" cy="365760"/>
          </a:xfrm>
          <a:prstGeom prst="rect">
            <a:avLst/>
          </a:prstGeom>
          <a:solidFill>
            <a:srgbClr val="0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D6FF"/>
                </a:solidFill>
              </a:rPr>
              <a:t>POST /predict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Prédiction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560320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D4EF"/>
                </a:solidFill>
              </a:rPr>
              <a:t>Retourne churn (0/1), probability, label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44368"/>
            <a:ext cx="8412480" cy="749808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944368"/>
            <a:ext cx="64008" cy="749808"/>
          </a:xfrm>
          <a:prstGeom prst="rect">
            <a:avLst/>
          </a:prstGeom>
          <a:solidFill>
            <a:srgbClr val="A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108960"/>
            <a:ext cx="1828800" cy="365760"/>
          </a:xfrm>
          <a:prstGeom prst="rect">
            <a:avLst/>
          </a:prstGeom>
          <a:solidFill>
            <a:srgbClr val="0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FFC8"/>
                </a:solidFill>
              </a:rPr>
              <a:t>POST /segment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Segmentation KMeans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401568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D4EF"/>
                </a:solidFill>
              </a:rPr>
              <a:t>Retourne segment (0-3) + label 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85616"/>
            <a:ext cx="8412480" cy="749808"/>
          </a:xfrm>
          <a:prstGeom prst="rect">
            <a:avLst/>
          </a:prstGeom>
          <a:solidFill>
            <a:srgbClr val="07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785616"/>
            <a:ext cx="64008" cy="749808"/>
          </a:xfrm>
          <a:prstGeom prst="rect">
            <a:avLst/>
          </a:prstGeom>
          <a:solidFill>
            <a:srgbClr val="FFD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950208"/>
            <a:ext cx="1828800" cy="365760"/>
          </a:xfrm>
          <a:prstGeom prst="rect">
            <a:avLst/>
          </a:prstGeom>
          <a:solidFill>
            <a:srgbClr val="0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9684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B"/>
                </a:solidFill>
              </a:rPr>
              <a:t>POST /regression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8770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Estimation valeur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42816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D4EF"/>
                </a:solidFill>
              </a:rPr>
              <a:t>Retourne predicted_monetary (£)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3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D4EF"/>
                </a:solidFill>
              </a:rPr>
              <a:t>📥  Entrée : {"data": [recency, frequency, monetary]}    📤  Ex: {"data": [5, 12, 1500]}  →  {"churn": 0, "probability": 0.05}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97680" cy="4023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projet_ml_retail/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├── 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D4EF"/>
                </a:solidFill>
              </a:rPr>
              <a:t>│   ├──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739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D4EF"/>
                </a:solidFill>
              </a:rPr>
              <a:t>│   └── templates/index.html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├── src/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D4EF"/>
                </a:solidFill>
              </a:rPr>
              <a:t>│   ├── preprocessing.py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D4EF"/>
                </a:solidFill>
              </a:rPr>
              <a:t>│   ├── train_model.py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980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D4EF"/>
                </a:solidFill>
              </a:rPr>
              <a:t>│   ├── predict.py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D4EF"/>
                </a:solidFill>
              </a:rPr>
              <a:t>│   └── utils.py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├── data/  (raw/ processed/ train_test/)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├── models/  (.pkl sauvegardés)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2219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├── reports/ (heatmap, elbow, confusion)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├── notebooks/ churn_notebook.ipynb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342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D6FF"/>
                </a:solidFill>
              </a:rPr>
              <a:t>└── README.md  requirements.txt  .gitignore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05840"/>
            <a:ext cx="393192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005840"/>
            <a:ext cx="64008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data.csv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316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00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783080"/>
            <a:ext cx="393192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46320" y="1783080"/>
            <a:ext cx="64008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preprocessing.py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0939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Nettoyage + RFM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377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560320"/>
            <a:ext cx="393192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0" y="2560320"/>
            <a:ext cx="64008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2606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train_model.py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87121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RF + KMeans + Régression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15467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337560"/>
            <a:ext cx="393192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46320" y="3337560"/>
            <a:ext cx="64008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3383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app.py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648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API Flask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9319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4114800"/>
            <a:ext cx="393192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4008" cy="5943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00"/>
                </a:solidFill>
              </a:rPr>
              <a:t>http://127.0.0.1:5000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44256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Interface Web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Résultats &amp; Bilan de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B84"/>
                </a:solidFill>
              </a:rPr>
              <a:t>Tous les critères pédagogiques du PDF sont couverts 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3533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Exploration &amp; Nettoyage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0078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Heatmap corrélation, IQR outliers, distribution sauvegardées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98448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298448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3533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0078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SimpleImputer(median) — fit sur X_train uniquement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67128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167128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2219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StandardScaler + PCA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569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Sans data leakage — split AVANT fit()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67128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2167128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22219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Classification (RF)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569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GridSearchCV + F1-score + Matrice de confusion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35808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035808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30906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Clustering (KMeans)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43814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Elbow method k=2→9, entraîné avec k=4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035808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0" y="3035808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0906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Régression Linéaire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43814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Predict Monetary depuis Recency + Frequency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04487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904487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3959351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Déploiement Flask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3068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3 routes API REST + interface web fonctionnelle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904487"/>
            <a:ext cx="4023360" cy="74980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0" y="3904487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09160" y="3959351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✅  Structure projet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3068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B84"/>
                </a:solidFill>
              </a:rPr>
              <a:t>src/ app/ data/ models/ reports/ notebooks/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6321" y="4734307"/>
            <a:ext cx="859536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" y="482346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65A82"/>
                </a:solidFill>
              </a:rPr>
              <a:t>🔗  GitHub : https://github.com/jaballah-amin/Projet_ML   |   ⚙️  </a:t>
            </a:r>
            <a:r>
              <a:rPr sz="950" b="1" i="0" dirty="0" err="1">
                <a:solidFill>
                  <a:srgbClr val="065A82"/>
                </a:solidFill>
              </a:rPr>
              <a:t>Lancement</a:t>
            </a:r>
            <a:r>
              <a:rPr sz="950" b="1" i="0" dirty="0">
                <a:solidFill>
                  <a:srgbClr val="065A82"/>
                </a:solidFill>
              </a:rPr>
              <a:t> : python src/preprocessing.py → train_model.py → app/app.py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00460" y="1407319"/>
            <a:ext cx="63430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Merci pour </a:t>
            </a:r>
            <a:r>
              <a:rPr sz="5400" b="1" i="0" dirty="0" err="1">
                <a:solidFill>
                  <a:srgbClr val="FFFFFF"/>
                </a:solidFill>
              </a:rPr>
              <a:t>votre</a:t>
            </a:r>
            <a:r>
              <a:rPr sz="5400" b="1" i="0" dirty="0">
                <a:solidFill>
                  <a:srgbClr val="FFFFFF"/>
                </a:solidFill>
              </a:rPr>
              <a:t>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dirty="0">
                <a:solidFill>
                  <a:srgbClr val="7EBCD4"/>
                </a:solidFill>
              </a:rPr>
              <a:t>JABALLAH Mohamed </a:t>
            </a:r>
            <a:r>
              <a:rPr lang="fr-FR" sz="1000" dirty="0">
                <a:solidFill>
                  <a:srgbClr val="7EBCD4"/>
                </a:solidFill>
              </a:rPr>
              <a:t>Amin</a:t>
            </a:r>
            <a:r>
              <a:rPr sz="1000" b="0" i="0" dirty="0">
                <a:solidFill>
                  <a:srgbClr val="7EBCD4"/>
                </a:solidFill>
              </a:rPr>
              <a:t>  |  Module Machine Learning GI2</a:t>
            </a:r>
            <a:r>
              <a:rPr lang="fr-FR" sz="1000" b="0" i="0" dirty="0">
                <a:solidFill>
                  <a:srgbClr val="7EBCD4"/>
                </a:solidFill>
              </a:rPr>
              <a:t>s1</a:t>
            </a:r>
            <a:r>
              <a:rPr sz="1000" b="0" i="0" dirty="0">
                <a:solidFill>
                  <a:srgbClr val="7EBCD4"/>
                </a:solidFill>
              </a:rPr>
              <a:t>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1241</Words>
  <Application>Microsoft Office PowerPoint</Application>
  <PresentationFormat>Affichage à l'écran (16:9)</PresentationFormat>
  <Paragraphs>241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mohamedamine.jabalah</cp:lastModifiedBy>
  <cp:revision>2</cp:revision>
  <dcterms:created xsi:type="dcterms:W3CDTF">2013-01-27T09:14:16Z</dcterms:created>
  <dcterms:modified xsi:type="dcterms:W3CDTF">2026-04-30T12:41:41Z</dcterms:modified>
  <cp:category/>
</cp:coreProperties>
</file>